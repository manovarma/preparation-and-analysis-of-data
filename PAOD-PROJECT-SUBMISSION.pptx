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0" r:id="rId2"/>
    <p:sldId id="283" r:id="rId3"/>
    <p:sldId id="257" r:id="rId4"/>
    <p:sldId id="264" r:id="rId5"/>
    <p:sldId id="259" r:id="rId6"/>
    <p:sldId id="265" r:id="rId7"/>
    <p:sldId id="271" r:id="rId8"/>
    <p:sldId id="273" r:id="rId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58"/>
    <p:restoredTop sz="94656"/>
  </p:normalViewPr>
  <p:slideViewPr>
    <p:cSldViewPr snapToGrid="0">
      <p:cViewPr varScale="1">
        <p:scale>
          <a:sx n="81" d="100"/>
          <a:sy n="81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C0C70-AF4C-4B4D-96BE-3533DC6FA339}" type="datetimeFigureOut">
              <a:rPr lang="en-DE" smtClean="0"/>
              <a:t>16.01.26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DF8F4-2B8E-DA43-9218-00C84B7E0D5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818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DF8F4-2B8E-DA43-9218-00C84B7E0D5E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0638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DF8F4-2B8E-DA43-9218-00C84B7E0D5E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346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27A0-4470-2DFE-55A9-02913A76C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25FF9-E553-BAA1-3D62-25F3EFA23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529B-2C96-1CA1-B63D-D19A83D8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978B5-FEB2-9043-BB1A-AC483B083DEF}" type="datetime1">
              <a:rPr lang="de-DE" smtClean="0"/>
              <a:t>16.01.26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AC21D-4BFD-7976-70AF-7857E784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626E5-1A2D-D769-D36B-0C9304A4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7725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ECDA-2B8E-5140-A84E-22692375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8A0F2-C5E3-9ED4-E570-43131109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F1B45-5E6D-20D7-BE43-200C9E7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C90A6-4606-E947-9FDD-52FC31E50481}" type="datetime1">
              <a:rPr lang="de-DE" smtClean="0"/>
              <a:t>16.01.26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C296-DE31-8AF6-3856-4D93F291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62251-C925-6F4E-C362-9A1D7F75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339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703C7-3BDD-ECCE-547D-0440CACC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FF32B-444D-F16C-9490-A9D1BC8E0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98874-C517-1BED-B386-438387F6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CE0D-AC2B-E04A-AC8B-F44F9C38E1CD}" type="datetime1">
              <a:rPr lang="de-DE" smtClean="0"/>
              <a:t>16.01.26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34F98-5F4F-4512-5AD7-F2DCDFBA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80339-7BF6-D5A4-DE40-EF50929A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3720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83CD-F67A-0DA7-36F8-182A8EAF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EC5F-0179-CDE9-E58C-8C8C25000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33707-6F97-8833-D5D6-8424B3547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C068D-9ED5-F29E-5CD1-F6B25D64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13E0-E21B-3B48-BD7A-54F718E694C0}" type="datetime1">
              <a:rPr lang="de-DE" smtClean="0"/>
              <a:t>16.01.26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A6A0F-0499-846F-8CD6-208164665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A09CC-7162-BE5D-8CA8-0BD920B9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398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319F-F5F9-3020-6A77-F73E6622F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3DBF0-A9EA-20EA-B49B-FB705D127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1192D-AC6A-AEDF-356E-A1C53CE6E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337C8-4D5F-FA6D-765E-B312AB602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36A-DC9D-512E-5743-032084093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45566-1849-77CD-FE4A-11F0FD56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419C-67E4-D049-A728-53815DB25D2F}" type="datetime1">
              <a:rPr lang="de-DE" smtClean="0"/>
              <a:t>16.01.26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B976C-6BB5-13F4-1762-952E2CFC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FB349-BFB5-5F27-E290-CDA17FF8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871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E648-D030-2735-2EDD-3C6B4E37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41E87-BCAD-47AC-DD20-E9C3F6A99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349F-51A8-BE49-96D9-9E1F1B0D3EEE}" type="datetime1">
              <a:rPr lang="de-DE" smtClean="0"/>
              <a:t>16.01.26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4ED15-E4A9-66E7-02A5-1A409CD4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11E89-7C6F-C8E7-973C-CE625746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66BB2-DA0C-EF59-54B6-E30A9143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383D-FDD7-FC4B-B97F-FC80A05AB03F}" type="datetime1">
              <a:rPr lang="de-DE" smtClean="0"/>
              <a:t>16.01.26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8B874-6DC5-BE26-699F-6B43FF50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09760-99DA-7E78-58A8-F4F76EEA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068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E788-210F-5801-94C4-899580B0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B9E62-4A5E-05DB-9853-3C401B2F3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CB532-BA5E-DAE2-26F1-777D9F753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2E60B-6D42-4BA3-42E8-E12C91328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1EEA9-3D23-DC40-8C84-4D264A6CBF21}" type="datetime1">
              <a:rPr lang="de-DE" smtClean="0"/>
              <a:t>16.01.26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5758F-98A2-C019-D13D-D363FF3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C48EB-F9C1-B8C9-B0B5-84D78A80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184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C524-4359-C40C-FDA7-B1549B09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E0E46-B994-D09A-8979-F50F10E4E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EBC39-85D9-C418-036C-908F95553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36E42-B484-3AFA-BA2B-E58BC947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08619-00C8-3047-B29F-043FE2B71C42}" type="datetime1">
              <a:rPr lang="de-DE" smtClean="0"/>
              <a:t>16.01.26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6CD29-3DB3-06F8-183B-B7370A28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6EAD8-F7C1-FD8D-C2E4-E18F8617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125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5566-8E52-5B92-F551-AA9F735B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89190-F19D-7371-EC20-906F6E409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573C9-3EDC-A4BC-6B51-EA741B05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38A0-D92A-7144-B941-168229BE0098}" type="datetime1">
              <a:rPr lang="de-DE" smtClean="0"/>
              <a:t>16.01.26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5DC69-4D40-0EFF-16D5-79D4EDB6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6633-5A03-0528-265C-A95C6635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7866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6DB7A-9E88-5434-247B-11E84299A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4AEF8-7C47-5B93-AEBE-EE9876BCB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69420-16E0-5573-740E-772EB2CF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7481-F3A7-2A4A-A9C8-69DDAF71B32E}" type="datetime1">
              <a:rPr lang="de-DE" smtClean="0"/>
              <a:t>16.01.26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18F22-49B3-C4BE-19D7-8C97EC23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C0B86-142E-CC53-98E0-6BA0BF3E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049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C88B9-789A-230C-DF83-19BCD9BB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9707B-58E1-791B-CBB7-F26491722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EEDB7-8082-FC62-C61A-483225B5D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4FACD-E45C-FB48-A621-9FA1A7E17B07}" type="datetime1">
              <a:rPr lang="de-DE" smtClean="0"/>
              <a:t>16.01.26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762F7-F0D3-2437-A39B-EB4757639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4ACDD-AF52-0FAA-4231-420A8F497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0204E-3AB2-5241-BF0D-FB1B5EC4F8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347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C1F74-C713-26E7-8D19-139CF6C4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54" y="1360481"/>
            <a:ext cx="460534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900">
                <a:solidFill>
                  <a:schemeClr val="bg1"/>
                </a:solidFill>
              </a:rPr>
              <a:t>Data Preparation and Statistical Analysis of Supply Chain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D536F-B182-6A6D-471B-5014F3AAA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454" y="3840156"/>
            <a:ext cx="4605340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By Manovarma Krishnasamy Thalaivar – (FD0003362)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B644F1-9491-0028-7E2A-27562CF81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r="2" b="2"/>
          <a:stretch>
            <a:fillRect/>
          </a:stretch>
        </p:blipFill>
        <p:spPr bwMode="auto">
          <a:xfrm>
            <a:off x="5915600" y="1277499"/>
            <a:ext cx="5367946" cy="430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5773E-64C9-4056-460B-5DE6B286E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620204E-3AB2-5241-BF0D-FB1B5EC4F8FF}" type="slidenum">
              <a:rPr lang="en-US">
                <a:solidFill>
                  <a:schemeClr val="bg1">
                    <a:lumMod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schemeClr val="bg1">
                  <a:lumMod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7897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93AD0-61E5-877A-C21E-6A1B6EF9A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Refinement of Research Questions</a:t>
            </a:r>
            <a:endParaRPr lang="en-DE" sz="4000">
              <a:solidFill>
                <a:srgbClr val="FFFF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F33619-2EB2-8A28-15D2-03DA13273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Initial exploratory analysis revealed that some early research questions were Not well aligned with the statistical methods required in this lecture.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Based on </a:t>
            </a:r>
            <a:r>
              <a:rPr kumimoji="0" lang="en-DE" altLang="en-DE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correlation analysis, feasibility of statistical testing, and lecture guidelines</a:t>
            </a: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the research questions were refined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2000" dirty="0">
              <a:latin typeface="Arial" panose="020B0604020202020204" pitchFamily="34" charset="0"/>
            </a:endParaRPr>
          </a:p>
          <a:p>
            <a:r>
              <a:rPr lang="en-GB" sz="2000" b="1" dirty="0"/>
              <a:t>RQ1:</a:t>
            </a:r>
            <a:br>
              <a:rPr lang="en-GB" sz="2000" dirty="0"/>
            </a:br>
            <a:r>
              <a:rPr lang="en-GB" sz="2000" b="1" dirty="0"/>
              <a:t>How do regional differences influence sales levels and product category demand?</a:t>
            </a:r>
            <a:endParaRPr lang="en-GB" sz="2000" dirty="0"/>
          </a:p>
          <a:p>
            <a:r>
              <a:rPr lang="en-GB" sz="2000" b="1" dirty="0"/>
              <a:t>RQ2:</a:t>
            </a:r>
            <a:br>
              <a:rPr lang="en-GB" sz="2000" dirty="0"/>
            </a:br>
            <a:r>
              <a:rPr lang="en-GB" sz="2000" b="1" dirty="0"/>
              <a:t>Are there seasonal or monthly patterns in order volume and shipping performance?</a:t>
            </a:r>
            <a:endParaRPr lang="en-GB" sz="2000" dirty="0"/>
          </a:p>
          <a:p>
            <a:r>
              <a:rPr lang="en-GB" sz="2000" b="1" dirty="0"/>
              <a:t>RQ3:</a:t>
            </a:r>
            <a:br>
              <a:rPr lang="en-GB" sz="2000" dirty="0"/>
            </a:br>
            <a:r>
              <a:rPr lang="en-GB" sz="2000" b="1" dirty="0"/>
              <a:t>How do customer segments differ in their ordering behaviour (order quantity, product categories, and chosen shipping modes)?</a:t>
            </a:r>
            <a:endParaRPr lang="en-GB" sz="20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EAE1B-99CA-A19E-6607-90448070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620204E-3AB2-5241-BF0D-FB1B5EC4F8FF}" type="slidenum">
              <a:rPr lang="en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27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2B35F4-7E9D-190A-F598-D51314E2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49" y="1243013"/>
            <a:ext cx="4104915" cy="4371974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Research Question 1</a:t>
            </a:r>
            <a:endParaRPr lang="en-DE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16E63-FF68-87BF-0424-B2BE47416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 b="1" dirty="0">
                <a:solidFill>
                  <a:schemeClr val="tx2"/>
                </a:solidFill>
              </a:rPr>
              <a:t>Research Question</a:t>
            </a:r>
            <a:br>
              <a:rPr lang="en-GB" sz="1800" dirty="0">
                <a:solidFill>
                  <a:schemeClr val="tx2"/>
                </a:solidFill>
              </a:rPr>
            </a:br>
            <a:r>
              <a:rPr lang="en-GB" sz="1800" dirty="0">
                <a:solidFill>
                  <a:schemeClr val="tx2"/>
                </a:solidFill>
              </a:rPr>
              <a:t>Does the chosen shipping mode influence delivery delay beyond planned shipment time?</a:t>
            </a:r>
          </a:p>
          <a:p>
            <a:r>
              <a:rPr lang="en-GB" sz="1800" b="1" dirty="0">
                <a:solidFill>
                  <a:schemeClr val="tx2"/>
                </a:solidFill>
              </a:rPr>
              <a:t>Hypothesis (H1)</a:t>
            </a:r>
            <a:br>
              <a:rPr lang="en-GB" sz="1800" dirty="0">
                <a:solidFill>
                  <a:schemeClr val="tx2"/>
                </a:solidFill>
              </a:rPr>
            </a:br>
            <a:r>
              <a:rPr lang="en-GB" sz="1800" dirty="0">
                <a:solidFill>
                  <a:schemeClr val="tx2"/>
                </a:solidFill>
              </a:rPr>
              <a:t>Even after controlling for scheduled shipping time, delivery delay differs significantly by shipping mode.</a:t>
            </a:r>
          </a:p>
          <a:p>
            <a:r>
              <a:rPr lang="en-GB" sz="1800" b="1" dirty="0">
                <a:solidFill>
                  <a:schemeClr val="tx2"/>
                </a:solidFill>
              </a:rPr>
              <a:t>Variables</a:t>
            </a:r>
            <a:endParaRPr lang="en-GB" sz="1800" dirty="0">
              <a:solidFill>
                <a:schemeClr val="tx2"/>
              </a:solidFill>
            </a:endParaRP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Dependent: Delivery delay (actual − scheduled)</a:t>
            </a: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Independent: Shipping mode</a:t>
            </a: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Control: Scheduled shipment days</a:t>
            </a:r>
          </a:p>
          <a:p>
            <a:endParaRPr lang="en-DE" sz="18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586FD-6F1C-B618-06EA-17302D92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955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33E11-5EE7-12FD-0F64-B5165420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/>
              <a:t>Effect of Shipping Mode on Delivery Delay</a:t>
            </a:r>
            <a:endParaRPr lang="en-DE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D6CEA9-D3BD-7680-3915-A8DC979C0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Multiple linear regression controlling    for scheduled shipment time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Shipping mode has a significant effect on delivery delay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DE" altLang="en-DE" sz="2000" dirty="0">
                <a:latin typeface="Arial" panose="020B0604020202020204" pitchFamily="34" charset="0"/>
              </a:rPr>
              <a:t>  </a:t>
            </a:r>
            <a:r>
              <a:rPr lang="en-GB" sz="2000" dirty="0"/>
              <a:t>Type II ANOVA to test independent effects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DE" altLang="en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H1 Supported</a:t>
            </a: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63EA0B68-8E8A-77B6-1BC5-2B08FB72D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867110"/>
            <a:ext cx="5150277" cy="294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683EA-6C34-71B6-F7AD-90CB62DB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160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F11F4-1290-DD75-E0F2-1F4C7F42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 fontScale="90000"/>
          </a:bodyPr>
          <a:lstStyle/>
          <a:p>
            <a:r>
              <a:rPr lang="en-GB" sz="4000" dirty="0"/>
              <a:t>RQ2 - </a:t>
            </a:r>
            <a:r>
              <a:rPr lang="en-GB" sz="4000" b="1" dirty="0"/>
              <a:t>Does increasing the discount amount lead to higher sales?</a:t>
            </a:r>
            <a:br>
              <a:rPr lang="en-GB" sz="4000" dirty="0"/>
            </a:br>
            <a:endParaRPr lang="en-D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E2F6-5F88-8444-7D17-531C7E06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98" y="1924880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Hypothesis (H2)</a:t>
            </a:r>
          </a:p>
          <a:p>
            <a:pPr marL="0" indent="0">
              <a:buNone/>
            </a:pPr>
            <a:r>
              <a:rPr lang="en-GB" sz="2000" dirty="0"/>
              <a:t>Discounts have significant effect on sales.</a:t>
            </a:r>
          </a:p>
          <a:p>
            <a:pPr marL="0" indent="0">
              <a:buNone/>
            </a:pPr>
            <a:endParaRPr lang="en-GB" sz="2000" dirty="0"/>
          </a:p>
          <a:p>
            <a:endParaRPr lang="en-DE" sz="200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FD081DA-1179-1A79-BCB8-0FE344CBF0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0" r="3936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6BCFC-F58C-DA28-BFEB-EA051E3B3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849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5" name="Rectangle 412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9F960-4A4C-EF4B-D5EC-3A4E368A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GB" sz="4000" b="1" dirty="0"/>
              <a:t>Methodology</a:t>
            </a:r>
            <a:br>
              <a:rPr lang="en-GB" sz="4000" b="1" dirty="0"/>
            </a:br>
            <a:endParaRPr lang="en-D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7D4A0-F5A3-9798-145C-5C34EFA9E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006" y="743803"/>
            <a:ext cx="3304272" cy="547417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1400" b="1" dirty="0"/>
              <a:t>Model Specification</a:t>
            </a:r>
          </a:p>
          <a:p>
            <a:r>
              <a:rPr lang="en-GB" sz="1400" b="1" dirty="0"/>
              <a:t>Dependent Variable:</a:t>
            </a:r>
            <a:r>
              <a:rPr lang="en-GB" sz="1400" dirty="0"/>
              <a:t> Sales</a:t>
            </a:r>
          </a:p>
          <a:p>
            <a:r>
              <a:rPr lang="en-GB" sz="1400" b="1" dirty="0"/>
              <a:t>Independent Variable:</a:t>
            </a:r>
            <a:r>
              <a:rPr lang="en-GB" sz="1400" dirty="0"/>
              <a:t> Order Item Discount</a:t>
            </a:r>
          </a:p>
          <a:p>
            <a:r>
              <a:rPr lang="en-GB" sz="1400" b="1" dirty="0"/>
              <a:t>Method:</a:t>
            </a:r>
            <a:r>
              <a:rPr lang="en-GB" sz="1400" dirty="0"/>
              <a:t> Ordinary Least Squares (OLS)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Model Results</a:t>
            </a:r>
          </a:p>
          <a:p>
            <a:r>
              <a:rPr lang="en-GB" sz="1400" b="1" dirty="0"/>
              <a:t>R² = 0.381</a:t>
            </a:r>
          </a:p>
          <a:p>
            <a:r>
              <a:rPr lang="en-GB" sz="1400" b="1" dirty="0"/>
              <a:t>There are other factors which supports the Sales </a:t>
            </a:r>
          </a:p>
          <a:p>
            <a:r>
              <a:rPr lang="en-GB" sz="1400" b="1" dirty="0"/>
              <a:t>H - Supported</a:t>
            </a:r>
          </a:p>
          <a:p>
            <a:endParaRPr lang="en-GB" sz="1400" dirty="0"/>
          </a:p>
          <a:p>
            <a:pPr marL="0" indent="0">
              <a:buNone/>
            </a:pPr>
            <a:endParaRPr lang="en-GB" sz="1400" b="1" dirty="0"/>
          </a:p>
          <a:p>
            <a:pPr marL="0" indent="0">
              <a:buNone/>
            </a:pPr>
            <a:r>
              <a:rPr lang="en-GB" sz="1400" b="1" dirty="0"/>
              <a:t>Interpretation</a:t>
            </a:r>
            <a:endParaRPr lang="en-GB" sz="1400" dirty="0"/>
          </a:p>
          <a:p>
            <a:r>
              <a:rPr lang="en-GB" sz="1400" dirty="0"/>
              <a:t>Discounts explain </a:t>
            </a:r>
            <a:r>
              <a:rPr lang="en-GB" sz="1400" b="1" dirty="0"/>
              <a:t>38.1% of sales variation</a:t>
            </a:r>
            <a:endParaRPr lang="en-GB" sz="1400" dirty="0"/>
          </a:p>
          <a:p>
            <a:r>
              <a:rPr lang="en-GB" sz="1400" dirty="0"/>
              <a:t>Discount alone increases sales, but sales </a:t>
            </a:r>
            <a:r>
              <a:rPr lang="en-GB" sz="1400" dirty="0" err="1"/>
              <a:t>behavior</a:t>
            </a:r>
            <a:r>
              <a:rPr lang="en-GB" sz="1400" dirty="0"/>
              <a:t> is better explained when product price is also considered.</a:t>
            </a:r>
            <a:endParaRPr lang="en-DE" sz="1400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B353BCEA-E92D-03D9-9B80-A55B33EA7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39" y="261007"/>
            <a:ext cx="6526751" cy="433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10A9-C8CC-A9A5-3689-9CDA84B0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1674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C6DCC-A07D-BF7C-675C-DA136D3E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3000"/>
              <a:t>RQ3: Do monthly changes in order volume affect shipping performance?</a:t>
            </a:r>
            <a:br>
              <a:rPr lang="en-GB" sz="3000"/>
            </a:br>
            <a:endParaRPr lang="en-DE" sz="30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E9864-D268-2323-3604-0CDC7E3E1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 b="1"/>
              <a:t>Hypothesis</a:t>
            </a:r>
          </a:p>
          <a:p>
            <a:r>
              <a:rPr lang="en-GB" sz="2200"/>
              <a:t>Although order volume varies significantly across months, shipping performance remains stable and does not deteriorate during high-demand periods.</a:t>
            </a:r>
            <a:endParaRPr lang="en-DE" sz="2200"/>
          </a:p>
        </p:txBody>
      </p:sp>
      <p:pic>
        <p:nvPicPr>
          <p:cNvPr id="5" name="Picture 4" descr="Cargo shipping containers in a pile and on a semi-truck at a harbour">
            <a:extLst>
              <a:ext uri="{FF2B5EF4-FFF2-40B4-BE49-F238E27FC236}">
                <a16:creationId xmlns:a16="http://schemas.microsoft.com/office/drawing/2014/main" id="{C0222DC6-CC74-1C17-D265-7DBC22674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86" r="12386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EE21D-F0E6-CBDE-EF64-DAA5A04D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620204E-3AB2-5241-BF0D-FB1B5EC4F8FF}" type="slidenum">
              <a:rPr lang="en-DE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133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FC67E617-26AF-C439-973C-9B793E985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32" y="1263986"/>
            <a:ext cx="5957668" cy="355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94393536-36A6-7542-FD49-BF4A5499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094" y="1401097"/>
            <a:ext cx="5498032" cy="328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C90C1-B180-8DC6-9209-1A9751792371}"/>
              </a:ext>
            </a:extLst>
          </p:cNvPr>
          <p:cNvSpPr txBox="1"/>
          <p:nvPr/>
        </p:nvSpPr>
        <p:spPr>
          <a:xfrm>
            <a:off x="462379" y="5182237"/>
            <a:ext cx="102729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Order volume exhibits strong seasonal variation, while shipping performance remains statistically stable, indicating robust logistics operations that handle demand fluctuations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used one-way ANOVA.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48AF0-3881-4525-D2BA-22F7ADCF8059}"/>
              </a:ext>
            </a:extLst>
          </p:cNvPr>
          <p:cNvSpPr txBox="1"/>
          <p:nvPr/>
        </p:nvSpPr>
        <p:spPr>
          <a:xfrm>
            <a:off x="0" y="259307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500" b="1" dirty="0"/>
              <a:t>Key 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188564-68E4-B2CC-D899-F7CB3D59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204E-3AB2-5241-BF0D-FB1B5EC4F8FF}" type="slidenum">
              <a:rPr lang="en-DE" smtClean="0"/>
              <a:t>8</a:t>
            </a:fld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654BD-E443-EE32-7FB1-34085E1FD4CD}"/>
              </a:ext>
            </a:extLst>
          </p:cNvPr>
          <p:cNvSpPr txBox="1"/>
          <p:nvPr/>
        </p:nvSpPr>
        <p:spPr>
          <a:xfrm>
            <a:off x="462379" y="6046293"/>
            <a:ext cx="614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Hypothesis is </a:t>
            </a:r>
            <a:r>
              <a:rPr lang="en-GB" b="1" dirty="0"/>
              <a:t>supported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3601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8707</TotalTime>
  <Words>381</Words>
  <Application>Microsoft Macintosh PowerPoint</Application>
  <PresentationFormat>Widescreen</PresentationFormat>
  <Paragraphs>58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Data Preparation and Statistical Analysis of Supply Chain Performance</vt:lpstr>
      <vt:lpstr>Refinement of Research Questions</vt:lpstr>
      <vt:lpstr>Research Question 1</vt:lpstr>
      <vt:lpstr>Effect of Shipping Mode on Delivery Delay</vt:lpstr>
      <vt:lpstr>RQ2 - Does increasing the discount amount lead to higher sales? </vt:lpstr>
      <vt:lpstr>Methodology </vt:lpstr>
      <vt:lpstr>RQ3: Do monthly changes in order volume affect shipping performance?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Manovarma Krishnasamy Thalaivar</dc:creator>
  <cp:lastModifiedBy>Manovarma Krishnasamy Thalaivar</cp:lastModifiedBy>
  <cp:revision>7</cp:revision>
  <dcterms:created xsi:type="dcterms:W3CDTF">2025-12-22T16:38:32Z</dcterms:created>
  <dcterms:modified xsi:type="dcterms:W3CDTF">2026-01-16T18:18:38Z</dcterms:modified>
</cp:coreProperties>
</file>